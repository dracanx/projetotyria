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6309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1">
                <a:solidFill>
                  <a:srgbClr val="3CDCBE"/>
                </a:solidFill>
                <a:latin typeface="Aptos"/>
              </a:rPr>
              <a:t>MÓDULO DE TRADUÇÃO LOCAL PTBR 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6675120" cy="1828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3400" b="1">
                <a:solidFill>
                  <a:srgbClr val="F1F5F9"/>
                </a:solidFill>
                <a:latin typeface="Aptos"/>
              </a:rPr>
              <a:t>Tradução local
para Guild Wars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75887"/>
            <a:ext cx="621792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100" b="0">
                <a:solidFill>
                  <a:srgbClr val="AAB9CC"/>
                </a:solidFill>
                <a:latin typeface="Aptos"/>
              </a:rPr>
              <a:t>Módulo PT-BR para Nexus Text Translator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97880"/>
            <a:ext cx="6309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AAB9CC"/>
                </a:solidFill>
                <a:latin typeface="Aptos"/>
              </a:rPr>
              <a:t>Arquitetura • funcionalidades • tecnologias • fluxo de contribuição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2240280"/>
            <a:ext cx="868680" cy="713232"/>
          </a:xfrm>
          <a:prstGeom prst="roundRect">
            <a:avLst/>
          </a:prstGeom>
          <a:solidFill>
            <a:srgbClr val="1F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2414016"/>
            <a:ext cx="868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73AFFF"/>
                </a:solidFill>
                <a:latin typeface="Aptos"/>
              </a:rPr>
              <a:t>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08592" y="2395728"/>
            <a:ext cx="2560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F1F5F9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2240280"/>
            <a:ext cx="868680" cy="713232"/>
          </a:xfrm>
          <a:prstGeom prst="roundRect">
            <a:avLst/>
          </a:prstGeom>
          <a:solidFill>
            <a:srgbClr val="1F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0" y="2414016"/>
            <a:ext cx="868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3CDCBE"/>
                </a:solidFill>
                <a:latin typeface="Aptos"/>
              </a:rPr>
              <a:t>CT2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60152" y="2395728"/>
            <a:ext cx="2560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F1F5F9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61320" y="2240280"/>
            <a:ext cx="868680" cy="713232"/>
          </a:xfrm>
          <a:prstGeom prst="roundRect">
            <a:avLst/>
          </a:prstGeom>
          <a:solidFill>
            <a:srgbClr val="1F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61320" y="2414016"/>
            <a:ext cx="868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B05C"/>
                </a:solidFill>
                <a:latin typeface="Aptos"/>
              </a:rPr>
              <a:t>PT-BR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346704"/>
            <a:ext cx="306324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F1F5F9"/>
                </a:solidFill>
                <a:latin typeface="Aptos"/>
              </a:rPr>
              <a:t>Tradução executada
no próprio computador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6364224"/>
            <a:ext cx="3108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AAB9CC"/>
                </a:solidFill>
                <a:latin typeface="Aptos"/>
              </a:rPr>
              <a:t>Guild Wars 2 • Windows 64-bit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000" b="1">
                <a:solidFill>
                  <a:srgbClr val="3CDCBE"/>
                </a:solidFill>
                <a:latin typeface="Aptos"/>
              </a:rPr>
              <a:t>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700" b="1">
                <a:solidFill>
                  <a:srgbClr val="F1F5F9"/>
                </a:solidFill>
                <a:latin typeface="Aptos"/>
              </a:rPr>
              <a:t>O que é o projeto?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0">
                <a:solidFill>
                  <a:srgbClr val="AAB9CC"/>
                </a:solidFill>
                <a:latin typeface="Aptos"/>
              </a:rPr>
              <a:t>Módulo de Tradução Local PTBR 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486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AB9CC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7899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900" b="0">
                <a:solidFill>
                  <a:srgbClr val="F1F5F9"/>
                </a:solidFill>
                <a:latin typeface="Aptos"/>
              </a:rPr>
              <a:t>Um módulo comunitário que conecta o Nexus Text Translator a traduções em português brasileiro para textos de Guild Wars 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23160"/>
            <a:ext cx="3429000" cy="2240280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423160"/>
            <a:ext cx="54864" cy="2240280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69464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3CDCBE"/>
                </a:solidFill>
                <a:latin typeface="Aptos"/>
              </a:rPr>
              <a:t>NO JOGO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53512"/>
            <a:ext cx="3063240" cy="1600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Aptos"/>
              </a:rPr>
              <a:t>Recebe textos e IDs do addon, responde com a tradução aplicável e preserva marcadores usados pelo jogo.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423160"/>
            <a:ext cx="3429000" cy="2240280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2423160"/>
            <a:ext cx="54864" cy="2240280"/>
          </a:xfrm>
          <a:prstGeom prst="rect">
            <a:avLst/>
          </a:prstGeom>
          <a:solidFill>
            <a:srgbClr val="73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569464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73AFFF"/>
                </a:solidFill>
                <a:latin typeface="Aptos"/>
              </a:rPr>
              <a:t>LOCAL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953512"/>
            <a:ext cx="3063240" cy="1600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Aptos"/>
              </a:rPr>
              <a:t>Modelo, glossário, patch, mapa e caches são usados no computador do jogador.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423160"/>
            <a:ext cx="3429000" cy="2240280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423160"/>
            <a:ext cx="54864" cy="2240280"/>
          </a:xfrm>
          <a:prstGeom prst="rect">
            <a:avLst/>
          </a:prstGeom>
          <a:solidFill>
            <a:srgbClr val="FF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569464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FB05C"/>
                </a:solidFill>
                <a:latin typeface="Aptos"/>
              </a:rPr>
              <a:t>COLABORATIVO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953512"/>
            <a:ext cx="3063240" cy="1600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Aptos"/>
              </a:rPr>
              <a:t>Inclui ferramentas para exportar textos, revisar traduções e montar patches por ID.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66360"/>
            <a:ext cx="1051560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700" b="0">
                <a:solidFill>
                  <a:srgbClr val="AAB9CC"/>
                </a:solidFill>
                <a:latin typeface="Aptos"/>
              </a:rPr>
              <a:t>Meta: tradução contextual, rápida e controlável sem enviar o texto do jogo a serviços externos.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000" b="1">
                <a:solidFill>
                  <a:srgbClr val="3CDCBE"/>
                </a:solidFill>
                <a:latin typeface="Aptos"/>
              </a:rPr>
              <a:t>FLUXO EM TEMPO DE JOGO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700" b="1">
                <a:solidFill>
                  <a:srgbClr val="F1F5F9"/>
                </a:solidFill>
                <a:latin typeface="Aptos"/>
              </a:rPr>
              <a:t>Como a tradução percorre o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0">
                <a:solidFill>
                  <a:srgbClr val="AAB9CC"/>
                </a:solidFill>
                <a:latin typeface="Aptos"/>
              </a:rPr>
              <a:t>Módulo de Tradução Local PTBR 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486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AB9CC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2395728" cy="2057400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54864" cy="2057400"/>
          </a:xfrm>
          <a:prstGeom prst="rect">
            <a:avLst/>
          </a:prstGeom>
          <a:solidFill>
            <a:srgbClr val="73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12264"/>
            <a:ext cx="20482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500" b="1">
                <a:solidFill>
                  <a:srgbClr val="73AFFF"/>
                </a:solidFill>
                <a:latin typeface="Aptos"/>
              </a:rPr>
              <a:t>Guild Wars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96312"/>
            <a:ext cx="2029968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0">
                <a:solidFill>
                  <a:srgbClr val="F1F5F9"/>
                </a:solidFill>
                <a:latin typeface="Aptos"/>
              </a:rPr>
              <a:t>Texto original +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490472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900" b="1">
                <a:solidFill>
                  <a:srgbClr val="3CDCBE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651760"/>
            <a:ext cx="3840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AAB9C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39" y="1965960"/>
            <a:ext cx="2395728" cy="2057400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39" y="1965960"/>
            <a:ext cx="54864" cy="2057400"/>
          </a:xfrm>
          <a:prstGeom prst="rect">
            <a:avLst/>
          </a:prstGeom>
          <a:solidFill>
            <a:srgbClr val="FF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2112264"/>
            <a:ext cx="20482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500" b="1">
                <a:solidFill>
                  <a:srgbClr val="FFB05C"/>
                </a:solidFill>
                <a:latin typeface="Aptos"/>
              </a:rPr>
              <a:t>Nexus / Text Translator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496312"/>
            <a:ext cx="2029968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0">
                <a:solidFill>
                  <a:srgbClr val="F1F5F9"/>
                </a:solidFill>
                <a:latin typeface="Aptos"/>
              </a:rPr>
              <a:t>Protocolo do addon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59" y="1490472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900" b="1">
                <a:solidFill>
                  <a:srgbClr val="3CDCBE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651760"/>
            <a:ext cx="3840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AAB9CC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65960"/>
            <a:ext cx="2395728" cy="2057400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965960"/>
            <a:ext cx="54864" cy="2057400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112264"/>
            <a:ext cx="20482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500" b="1">
                <a:solidFill>
                  <a:srgbClr val="3CDCBE"/>
                </a:solidFill>
                <a:latin typeface="Aptos"/>
              </a:rPr>
              <a:t>Módulo PT-BR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496312"/>
            <a:ext cx="2029968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0">
                <a:solidFill>
                  <a:srgbClr val="F1F5F9"/>
                </a:solidFill>
                <a:latin typeface="Aptos"/>
              </a:rPr>
              <a:t>Patch → cache → motor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490472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900" b="1">
                <a:solidFill>
                  <a:srgbClr val="3CDCBE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651760"/>
            <a:ext cx="3840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AAB9CC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81159" y="1965960"/>
            <a:ext cx="2395728" cy="2057400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81159" y="1965960"/>
            <a:ext cx="54864" cy="2057400"/>
          </a:xfrm>
          <a:prstGeom prst="rect">
            <a:avLst/>
          </a:prstGeom>
          <a:solidFill>
            <a:srgbClr val="73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64039" y="2112264"/>
            <a:ext cx="20482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500" b="1">
                <a:solidFill>
                  <a:srgbClr val="73AFFF"/>
                </a:solidFill>
                <a:latin typeface="Aptos"/>
              </a:rPr>
              <a:t>Resposta ao jogo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39" y="2496312"/>
            <a:ext cx="2029968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0">
                <a:solidFill>
                  <a:srgbClr val="F1F5F9"/>
                </a:solidFill>
                <a:latin typeface="Aptos"/>
              </a:rPr>
              <a:t>Tradução + marcadores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1490472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900" b="1">
                <a:solidFill>
                  <a:srgbClr val="3CDCBE"/>
                </a:solidFill>
                <a:latin typeface="Aptos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681728"/>
            <a:ext cx="10835640" cy="868680"/>
          </a:xfrm>
          <a:prstGeom prst="roundRect">
            <a:avLst/>
          </a:prstGeom>
          <a:solidFill>
            <a:srgbClr val="1F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864608"/>
            <a:ext cx="1037844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"/>
              </a:rPr>
              <a:t>Prioridade de resposta: patch local (quando disponível) → cache do addon / do módulo → tradução pelo modelo local com glossário.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000" b="1">
                <a:solidFill>
                  <a:srgbClr val="3CDCBE"/>
                </a:solidFill>
                <a:latin typeface="Aptos"/>
              </a:rPr>
              <a:t>EXPERIÊNCIA DE USO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700" b="1">
                <a:solidFill>
                  <a:srgbClr val="F1F5F9"/>
                </a:solidFill>
                <a:latin typeface="Aptos"/>
              </a:rPr>
              <a:t>Funcionalidades para quem joga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0">
                <a:solidFill>
                  <a:srgbClr val="AAB9CC"/>
                </a:solidFill>
                <a:latin typeface="Aptos"/>
              </a:rPr>
              <a:t>Módulo de Tradução Local PTBR 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486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AB9CC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3429000" cy="1691640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54864" cy="1691640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55063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3CDCBE"/>
                </a:solidFill>
                <a:latin typeface="Aptos"/>
              </a:rPr>
              <a:t>Patch por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39112"/>
            <a:ext cx="306324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Aptos"/>
              </a:rPr>
              <a:t>Usa traduções automáticas e revisadas associadas aos IDs do jogo.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08760"/>
            <a:ext cx="3429000" cy="1691640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508760"/>
            <a:ext cx="54864" cy="1691640"/>
          </a:xfrm>
          <a:prstGeom prst="rect">
            <a:avLst/>
          </a:prstGeom>
          <a:solidFill>
            <a:srgbClr val="73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55063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73AFFF"/>
                </a:solidFill>
                <a:latin typeface="Aptos"/>
              </a:rPr>
              <a:t>Modelo 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39112"/>
            <a:ext cx="306324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Aptos"/>
              </a:rPr>
              <a:t>OPUS-MT inglês → português, executado por CTranslate2 em CPU.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08760"/>
            <a:ext cx="3429000" cy="1691640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08760"/>
            <a:ext cx="54864" cy="1691640"/>
          </a:xfrm>
          <a:prstGeom prst="rect">
            <a:avLst/>
          </a:prstGeom>
          <a:solidFill>
            <a:srgbClr val="FF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655063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FB05C"/>
                </a:solidFill>
                <a:latin typeface="Aptos"/>
              </a:rPr>
              <a:t>Glossário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039112"/>
            <a:ext cx="306324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Aptos"/>
              </a:rPr>
              <a:t>Substituições exatas, termos consistentes e padrões com trechos variáveis.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520440"/>
            <a:ext cx="3429000" cy="1691640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520440"/>
            <a:ext cx="54864" cy="1691640"/>
          </a:xfrm>
          <a:prstGeom prst="rect">
            <a:avLst/>
          </a:prstGeom>
          <a:solidFill>
            <a:srgbClr val="FF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666744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FB05C"/>
                </a:solidFill>
                <a:latin typeface="Aptos"/>
              </a:rPr>
              <a:t>Marcadores preservados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050791"/>
            <a:ext cx="306324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Aptos"/>
              </a:rPr>
              <a:t>Protege códigos, tags e placeholders do jogo durante a tradução.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3520440"/>
            <a:ext cx="3429000" cy="1691640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0832" y="3520440"/>
            <a:ext cx="54864" cy="1691640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3666744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3CDCBE"/>
                </a:solidFill>
                <a:latin typeface="Aptos"/>
              </a:rPr>
              <a:t>Cache local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4050791"/>
            <a:ext cx="306324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Aptos"/>
              </a:rPr>
              <a:t>Evita refazer traduções já processadas e mantém dados no computador.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520440"/>
            <a:ext cx="3429000" cy="1691640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520440"/>
            <a:ext cx="54864" cy="1691640"/>
          </a:xfrm>
          <a:prstGeom prst="rect">
            <a:avLst/>
          </a:prstGeom>
          <a:solidFill>
            <a:srgbClr val="73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3666744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73AFFF"/>
                </a:solidFill>
                <a:latin typeface="Aptos"/>
              </a:rPr>
              <a:t>Plural dinâmico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050791"/>
            <a:ext cx="306324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Aptos"/>
              </a:rPr>
              <a:t>Regras conservadoras para templates com quantidade, por exemplo %num1%.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000" b="1">
                <a:solidFill>
                  <a:srgbClr val="3CDCBE"/>
                </a:solidFill>
                <a:latin typeface="Aptos"/>
              </a:rPr>
              <a:t>Módulo de Tradução Local PTBR 1.0 • IMPLEMENTAÇÃO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700" b="1">
                <a:solidFill>
                  <a:srgbClr val="F1F5F9"/>
                </a:solidFill>
                <a:latin typeface="Aptos"/>
              </a:rPr>
              <a:t>Plural dinâmico em templates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0">
                <a:solidFill>
                  <a:srgbClr val="AAB9CC"/>
                </a:solidFill>
                <a:latin typeface="Aptos"/>
              </a:rPr>
              <a:t>Módulo de Tradução Local PTBR 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486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AB9CC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17320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800" b="0">
                <a:solidFill>
                  <a:srgbClr val="F1F5F9"/>
                </a:solidFill>
                <a:latin typeface="Aptos"/>
              </a:rPr>
              <a:t>O marcador numérico sinaliza textos cujo substantivo/adjetivo muda com a quantidade.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121408"/>
            <a:ext cx="5120640" cy="987552"/>
          </a:xfrm>
          <a:prstGeom prst="roundRect">
            <a:avLst/>
          </a:prstGeom>
          <a:solidFill>
            <a:srgbClr val="1F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350008"/>
            <a:ext cx="46634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1700" b="1">
                <a:solidFill>
                  <a:srgbClr val="73AFFF"/>
                </a:solidFill>
                <a:latin typeface="Aptos"/>
              </a:rPr>
              <a:t>EN  You have %num1% Box[pl:"Boxes"]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121408"/>
            <a:ext cx="5120640" cy="987552"/>
          </a:xfrm>
          <a:prstGeom prst="roundRect">
            <a:avLst/>
          </a:prstGeom>
          <a:solidFill>
            <a:srgbClr val="1F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350008"/>
            <a:ext cx="4681728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1700" b="1">
                <a:solidFill>
                  <a:srgbClr val="3CDCBE"/>
                </a:solidFill>
                <a:latin typeface="Aptos"/>
              </a:rPr>
              <a:t>PT  Você tem %num1% caixa[pl:"caixas"]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776472"/>
            <a:ext cx="91440" cy="91440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3703320"/>
            <a:ext cx="10113264" cy="576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Aptos"/>
              </a:rPr>
              <a:t>Reconhece %num%, %num1%, %num2% e marcadores plurais equivalentes na origem.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398264"/>
            <a:ext cx="91440" cy="91440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4325112"/>
            <a:ext cx="10113264" cy="576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Aptos"/>
              </a:rPr>
              <a:t>Usa vocabulário das traduções locais em cache para inferir formas; casos incertos ficam inalterados.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5020056"/>
            <a:ext cx="91440" cy="91440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" y="4946904"/>
            <a:ext cx="10113264" cy="576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Aptos"/>
              </a:rPr>
              <a:t>Limita a análise ao grupo nominal próximo do número e encerra em pontuação/preposições.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000" b="1">
                <a:solidFill>
                  <a:srgbClr val="3CDCBE"/>
                </a:solidFill>
                <a:latin typeface="Aptos"/>
              </a:rPr>
              <a:t>CONTEÚDO LINGUÍSTICO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700" b="1">
                <a:solidFill>
                  <a:srgbClr val="F1F5F9"/>
                </a:solidFill>
                <a:latin typeface="Aptos"/>
              </a:rPr>
              <a:t>Patch e estados das traduções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0">
                <a:solidFill>
                  <a:srgbClr val="AAB9CC"/>
                </a:solidFill>
                <a:latin typeface="Aptos"/>
              </a:rPr>
              <a:t>Módulo de Tradução Local PTBR 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486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AB9CC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3429000" cy="2103120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72768"/>
            <a:ext cx="54864" cy="2103120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19072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700" b="1">
                <a:solidFill>
                  <a:srgbClr val="3CDCBE"/>
                </a:solidFill>
                <a:latin typeface="Aptos"/>
              </a:rPr>
              <a:t>strings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3063240" cy="14630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Aptos"/>
              </a:rPr>
              <a:t>Traduções revisadas/aprovadas por pessoa; preservadas com prioridade.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72768"/>
            <a:ext cx="3429000" cy="2103120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572768"/>
            <a:ext cx="54864" cy="2103120"/>
          </a:xfrm>
          <a:prstGeom prst="rect">
            <a:avLst/>
          </a:prstGeom>
          <a:solidFill>
            <a:srgbClr val="73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719072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700" b="1">
                <a:solidFill>
                  <a:srgbClr val="73AFFF"/>
                </a:solidFill>
                <a:latin typeface="Aptos"/>
              </a:rPr>
              <a:t>auto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103120"/>
            <a:ext cx="3063240" cy="14630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Aptos"/>
              </a:rPr>
              <a:t>Traduções automáticas que podem ser substituídas por correções melhores.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72768"/>
            <a:ext cx="3429000" cy="2103120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72768"/>
            <a:ext cx="54864" cy="2103120"/>
          </a:xfrm>
          <a:prstGeom prst="rect">
            <a:avLst/>
          </a:prstGeom>
          <a:solidFill>
            <a:srgbClr val="FF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719072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700" b="1">
                <a:solidFill>
                  <a:srgbClr val="FFB05C"/>
                </a:solidFill>
                <a:latin typeface="Aptos"/>
              </a:rPr>
              <a:t>drop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03120"/>
            <a:ext cx="3063240" cy="14630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Aptos"/>
              </a:rPr>
              <a:t>IDs automáticos antigos a remover para que o jogo volte a solicitar a tradução.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187952"/>
            <a:ext cx="1065276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700" b="0">
                <a:solidFill>
                  <a:srgbClr val="F1F5F9"/>
                </a:solidFill>
                <a:latin typeface="Aptos"/>
              </a:rPr>
              <a:t>Os patches ficam em partes JSON sequenciais (p0000, p0001…) listadas por index.json. As entradas são mescladas por ID; o índice mantém versões e hashes.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330952"/>
            <a:ext cx="106070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0">
                <a:solidFill>
                  <a:srgbClr val="AAB9CC"/>
                </a:solidFill>
                <a:latin typeface="Aptos"/>
              </a:rPr>
              <a:t>Na cópia Módulo de Tradução Local PTBR 1.0 analisada, o patch distribuído contém entradas auto; não há entradas strings.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000" b="1">
                <a:solidFill>
                  <a:srgbClr val="3CDCBE"/>
                </a:solidFill>
                <a:latin typeface="Aptos"/>
              </a:rPr>
              <a:t>FLUXO EDITORIAL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700" b="1">
                <a:solidFill>
                  <a:srgbClr val="F1F5F9"/>
                </a:solidFill>
                <a:latin typeface="Aptos"/>
              </a:rPr>
              <a:t>Ferramentas para revisão e contribuição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0">
                <a:solidFill>
                  <a:srgbClr val="AAB9CC"/>
                </a:solidFill>
                <a:latin typeface="Aptos"/>
              </a:rPr>
              <a:t>Módulo de Tradução Local PTBR 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486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AB9CC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429000" cy="1874519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54864" cy="1874519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00784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3CDCBE"/>
                </a:solidFill>
                <a:latin typeface="Aptos"/>
              </a:rPr>
              <a:t>Exportar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84831"/>
            <a:ext cx="3063240" cy="12344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Aptos"/>
              </a:rPr>
              <a:t>Gera uma linha por ID conhecido com inglês, tradução atual, patch e campo de nova tradução.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54480"/>
            <a:ext cx="3429000" cy="1874519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554480"/>
            <a:ext cx="54864" cy="1874519"/>
          </a:xfrm>
          <a:prstGeom prst="rect">
            <a:avLst/>
          </a:prstGeom>
          <a:solidFill>
            <a:srgbClr val="73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700784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73AFFF"/>
                </a:solidFill>
                <a:latin typeface="Aptos"/>
              </a:rPr>
              <a:t>Mesclar e validar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84831"/>
            <a:ext cx="3063240" cy="12344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Aptos"/>
              </a:rPr>
              <a:t>Mescla correções por ID, atualiza hashes/versões e valida o patch antes de substituir.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429000" cy="1874519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54480"/>
            <a:ext cx="54864" cy="1874519"/>
          </a:xfrm>
          <a:prstGeom prst="rect">
            <a:avLst/>
          </a:prstGeom>
          <a:solidFill>
            <a:srgbClr val="FF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700784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FB05C"/>
                </a:solidFill>
                <a:latin typeface="Aptos"/>
              </a:rPr>
              <a:t>Consolidar bases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084831"/>
            <a:ext cx="3063240" cy="12344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Aptos"/>
              </a:rPr>
              <a:t>Combina CSVs de colaboradores, preenche campos vazios e informa conflitos.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94760"/>
            <a:ext cx="3429000" cy="1554480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794760"/>
            <a:ext cx="54864" cy="1554480"/>
          </a:xfrm>
          <a:prstGeom prst="rect">
            <a:avLst/>
          </a:prstGeom>
          <a:solidFill>
            <a:srgbClr val="FF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941064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FB05C"/>
                </a:solidFill>
                <a:latin typeface="Aptos"/>
              </a:rPr>
              <a:t>Encontrar IDs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325112"/>
            <a:ext cx="306324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Aptos"/>
              </a:rPr>
              <a:t>Modo show_keys: texto ou all para identificar entradas diretamente no jogo.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3794760"/>
            <a:ext cx="3429000" cy="1554480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0832" y="3794760"/>
            <a:ext cx="54864" cy="1554480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3941064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3CDCBE"/>
                </a:solidFill>
                <a:latin typeface="Aptos"/>
              </a:rPr>
              <a:t>Backups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4325112"/>
            <a:ext cx="306324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Aptos"/>
              </a:rPr>
              <a:t>Uma cópia de segurança é criada ao substituir um patch existente.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794760"/>
            <a:ext cx="3429000" cy="1554480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794760"/>
            <a:ext cx="54864" cy="1554480"/>
          </a:xfrm>
          <a:prstGeom prst="rect">
            <a:avLst/>
          </a:prstGeom>
          <a:solidFill>
            <a:srgbClr val="73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3941064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73AFFF"/>
                </a:solidFill>
                <a:latin typeface="Aptos"/>
              </a:rPr>
              <a:t>Sugestões locais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325112"/>
            <a:ext cx="306324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Aptos"/>
              </a:rPr>
              <a:t>Página de contribuição em localhost para colaboradores configurados.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000" b="1">
                <a:solidFill>
                  <a:srgbClr val="3CDCBE"/>
                </a:solidFill>
                <a:latin typeface="Aptos"/>
              </a:rPr>
              <a:t>EXECUÇÃO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700" b="1">
                <a:solidFill>
                  <a:srgbClr val="F1F5F9"/>
                </a:solidFill>
                <a:latin typeface="Aptos"/>
              </a:rPr>
              <a:t>Privacidade 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0">
                <a:solidFill>
                  <a:srgbClr val="AAB9CC"/>
                </a:solidFill>
                <a:latin typeface="Aptos"/>
              </a:rPr>
              <a:t>Módulo de Tradução Local PTBR 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486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AB9CC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429000" cy="1920240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54864" cy="1920240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46504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3CDCBE"/>
                </a:solidFill>
                <a:latin typeface="Aptos"/>
              </a:rPr>
              <a:t>O que fica 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30552"/>
            <a:ext cx="306324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Aptos"/>
              </a:rPr>
              <a:t>Cache do addon, cache de traduções, mapa de IDs/textos, glossário e patch.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00200"/>
            <a:ext cx="3429000" cy="1920240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600200"/>
            <a:ext cx="54864" cy="1920240"/>
          </a:xfrm>
          <a:prstGeom prst="rect">
            <a:avLst/>
          </a:prstGeom>
          <a:solidFill>
            <a:srgbClr val="73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746504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73AFFF"/>
                </a:solidFill>
                <a:latin typeface="Aptos"/>
              </a:rPr>
              <a:t>Conexões opcionais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130552"/>
            <a:ext cx="306324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Aptos"/>
              </a:rPr>
              <a:t>Modelo: download inicial separado. Atualizações: só glossário, plural e patch mais novos.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29000" cy="1920240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54864" cy="1920240"/>
          </a:xfrm>
          <a:prstGeom prst="rect">
            <a:avLst/>
          </a:prstGeom>
          <a:solidFill>
            <a:srgbClr val="FF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746504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FB05C"/>
                </a:solidFill>
                <a:latin typeface="Aptos"/>
              </a:rPr>
              <a:t>Sem envio de textos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30552"/>
            <a:ext cx="306324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Aptos"/>
              </a:rPr>
              <a:t>O texto visto no jogo não é enviado pela rede para ser traduzido.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069080"/>
            <a:ext cx="10744200" cy="1024128"/>
          </a:xfrm>
          <a:prstGeom prst="roundRect">
            <a:avLst/>
          </a:prstGeom>
          <a:solidFill>
            <a:srgbClr val="1F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261104"/>
            <a:ext cx="1028700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"/>
              </a:rPr>
              <a:t>auto_updates começa em off. Com on, baixa só dados mais novos; cache e CSV podem conter texto do jogo e devem ficar privados.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000" b="1">
                <a:solidFill>
                  <a:srgbClr val="3CDCBE"/>
                </a:solidFill>
                <a:latin typeface="Aptos"/>
              </a:rPr>
              <a:t>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700" b="1">
                <a:solidFill>
                  <a:srgbClr val="F1F5F9"/>
                </a:solidFill>
                <a:latin typeface="Aptos"/>
              </a:rPr>
              <a:t>Tecnologias que compõem 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0">
                <a:solidFill>
                  <a:srgbClr val="AAB9CC"/>
                </a:solidFill>
                <a:latin typeface="Aptos"/>
              </a:rPr>
              <a:t>Módulo de Tradução Local PTBR 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486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AB9CC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08176"/>
            <a:ext cx="2450592" cy="493776"/>
          </a:xfrm>
          <a:prstGeom prst="roundRect">
            <a:avLst/>
          </a:prstGeom>
          <a:solidFill>
            <a:srgbClr val="1F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08760"/>
            <a:ext cx="2084831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1200" b="1">
                <a:solidFill>
                  <a:srgbClr val="3CDCBE"/>
                </a:solidFill>
                <a:latin typeface="Aptos"/>
              </a:rPr>
              <a:t>Integração do jogo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1472184"/>
            <a:ext cx="7955279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1500" b="0">
                <a:solidFill>
                  <a:srgbClr val="F1F5F9"/>
                </a:solidFill>
                <a:latin typeface="Aptos"/>
              </a:rPr>
              <a:t>Nexus • Text Translator • protocolo de módulos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66543"/>
            <a:ext cx="2450592" cy="493776"/>
          </a:xfrm>
          <a:prstGeom prst="roundRect">
            <a:avLst/>
          </a:prstGeom>
          <a:solidFill>
            <a:srgbClr val="1F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67127"/>
            <a:ext cx="2084831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1200" b="1">
                <a:solidFill>
                  <a:srgbClr val="3CDCBE"/>
                </a:solidFill>
                <a:latin typeface="Aptos"/>
              </a:rPr>
              <a:t>Linguagem / plataforma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130551"/>
            <a:ext cx="7955279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1500" b="0">
                <a:solidFill>
                  <a:srgbClr val="F1F5F9"/>
                </a:solidFill>
                <a:latin typeface="Aptos"/>
              </a:rPr>
              <a:t>Python 3.12 • Windows 64-bit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24912"/>
            <a:ext cx="2450592" cy="493776"/>
          </a:xfrm>
          <a:prstGeom prst="roundRect">
            <a:avLst/>
          </a:prstGeom>
          <a:solidFill>
            <a:srgbClr val="1F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825496"/>
            <a:ext cx="2084831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1200" b="1">
                <a:solidFill>
                  <a:srgbClr val="3CDCBE"/>
                </a:solidFill>
                <a:latin typeface="Aptos"/>
              </a:rPr>
              <a:t>Inferência neural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2788920"/>
            <a:ext cx="7955279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1500" b="0">
                <a:solidFill>
                  <a:srgbClr val="F1F5F9"/>
                </a:solidFill>
                <a:latin typeface="Aptos"/>
              </a:rPr>
              <a:t>CTranslate2 4.8.3 • modelo OPUS-MT eng→por • CPU INT8 por padrão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83280"/>
            <a:ext cx="2450592" cy="493776"/>
          </a:xfrm>
          <a:prstGeom prst="roundRect">
            <a:avLst/>
          </a:prstGeom>
          <a:solidFill>
            <a:srgbClr val="1F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483864"/>
            <a:ext cx="2084831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1200" b="1">
                <a:solidFill>
                  <a:srgbClr val="3CDCBE"/>
                </a:solidFill>
                <a:latin typeface="Aptos"/>
              </a:rPr>
              <a:t>Tokenização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3447288"/>
            <a:ext cx="7955279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1500" b="0">
                <a:solidFill>
                  <a:srgbClr val="F1F5F9"/>
                </a:solidFill>
                <a:latin typeface="Aptos"/>
              </a:rPr>
              <a:t>SentencePiece • source.spm e target.spm do modelo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041648"/>
            <a:ext cx="2450592" cy="493776"/>
          </a:xfrm>
          <a:prstGeom prst="roundRect">
            <a:avLst/>
          </a:prstGeom>
          <a:solidFill>
            <a:srgbClr val="1F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142232"/>
            <a:ext cx="2084831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1200" b="1">
                <a:solidFill>
                  <a:srgbClr val="3CDCBE"/>
                </a:solidFill>
                <a:latin typeface="Aptos"/>
              </a:rPr>
              <a:t>Dados locais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4105656"/>
            <a:ext cx="7955279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1500" b="0">
                <a:solidFill>
                  <a:srgbClr val="F1F5F9"/>
                </a:solidFill>
                <a:latin typeface="Aptos"/>
              </a:rPr>
              <a:t>SQLite • JSON / JSONL • CSV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00016"/>
            <a:ext cx="2450592" cy="493776"/>
          </a:xfrm>
          <a:prstGeom prst="roundRect">
            <a:avLst/>
          </a:prstGeom>
          <a:solidFill>
            <a:srgbClr val="1F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800600"/>
            <a:ext cx="2084831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1200" b="1">
                <a:solidFill>
                  <a:srgbClr val="3CDCBE"/>
                </a:solidFill>
                <a:latin typeface="Aptos"/>
              </a:rPr>
              <a:t>Hash / empacotamento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1568" y="4764024"/>
            <a:ext cx="7955279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1500" b="0">
                <a:solidFill>
                  <a:srgbClr val="F1F5F9"/>
                </a:solidFill>
                <a:latin typeface="Aptos"/>
              </a:rPr>
              <a:t>xxhash • PyInstaller • DLLs nativas do CTranslate2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358384"/>
            <a:ext cx="2450592" cy="493776"/>
          </a:xfrm>
          <a:prstGeom prst="roundRect">
            <a:avLst/>
          </a:prstGeom>
          <a:solidFill>
            <a:srgbClr val="1F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458968"/>
            <a:ext cx="2084831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1200" b="1">
                <a:solidFill>
                  <a:srgbClr val="3CDCBE"/>
                </a:solidFill>
                <a:latin typeface="Aptos"/>
              </a:rPr>
              <a:t>Ferramentas auxiliares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1568" y="5422392"/>
            <a:ext cx="7955279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1500" b="0">
                <a:solidFill>
                  <a:srgbClr val="F1F5F9"/>
                </a:solidFill>
                <a:latin typeface="Aptos"/>
              </a:rPr>
              <a:t>Tkinter para o editor/mesclador • servidor HTTP local de sugestões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000" b="1">
                <a:solidFill>
                  <a:srgbClr val="3CDCBE"/>
                </a:solidFill>
                <a:latin typeface="Aptos"/>
              </a:rPr>
              <a:t>MOTOR DE TRADUÇÃO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700" b="1">
                <a:solidFill>
                  <a:srgbClr val="F1F5F9"/>
                </a:solidFill>
                <a:latin typeface="Aptos"/>
              </a:rPr>
              <a:t>Desempenho e opções de execução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0">
                <a:solidFill>
                  <a:srgbClr val="AAB9CC"/>
                </a:solidFill>
                <a:latin typeface="Aptos"/>
              </a:rPr>
              <a:t>Módulo de Tradução Local PTBR 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486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AB9CC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429000" cy="1965960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54864" cy="1965960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00784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3CDCBE"/>
                </a:solidFill>
                <a:latin typeface="Aptos"/>
              </a:rPr>
              <a:t>CPU com INT8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84831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Aptos"/>
              </a:rPr>
              <a:t>Módulo de Tradução Local PTBR 1.0 solicita compute_type=int8. CTranslate2 usa kernels otimizados quando suportados.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54480"/>
            <a:ext cx="3429000" cy="1965960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554480"/>
            <a:ext cx="54864" cy="1965960"/>
          </a:xfrm>
          <a:prstGeom prst="rect">
            <a:avLst/>
          </a:prstGeom>
          <a:solidFill>
            <a:srgbClr val="73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700784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73AFFF"/>
                </a:solidFill>
                <a:latin typeface="Aptos"/>
              </a:rPr>
              <a:t>Controle de qualidade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84831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Aptos"/>
              </a:rPr>
              <a:t>É possível executar com --compute-type default para usar a precisão salva no modelo.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429000" cy="1965960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54480"/>
            <a:ext cx="54864" cy="1965960"/>
          </a:xfrm>
          <a:prstGeom prst="rect">
            <a:avLst/>
          </a:prstGeom>
          <a:solidFill>
            <a:srgbClr val="FF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700784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FB05C"/>
                </a:solidFill>
                <a:latin typeface="Aptos"/>
              </a:rPr>
              <a:t>Compatibilidade de CPU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084831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Aptos"/>
              </a:rPr>
              <a:t>Ajuste de threads configurável; por padrão, prioriza deixar recursos para o jogo.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041648"/>
            <a:ext cx="1060704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0">
                <a:solidFill>
                  <a:srgbClr val="F1F5F9"/>
                </a:solidFill>
                <a:latin typeface="Aptos"/>
              </a:rPr>
              <a:t>GPU AMD/Intel: o módulo não ativa aceleração de GPU. O caminho padrão atual é CPU; GPU AMD exige backend/build e validação separados. Para Intel, o wheel oficial seleciona otimizações de CPU automaticamente.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285232"/>
            <a:ext cx="1060704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AAB9CC"/>
                </a:solidFill>
                <a:latin typeface="Aptos"/>
              </a:rPr>
              <a:t>A medição INT8 no modelo PT-BR e no computador do usuário depende de benchmark local; a mudança de tipo pode alterar algumas saídas.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000" b="1">
                <a:solidFill>
                  <a:srgbClr val="3CDCBE"/>
                </a:solidFill>
                <a:latin typeface="Aptos"/>
              </a:rPr>
              <a:t>OPERAÇÃO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700" b="1">
                <a:solidFill>
                  <a:srgbClr val="F1F5F9"/>
                </a:solidFill>
                <a:latin typeface="Aptos"/>
              </a:rPr>
              <a:t>Compilação e instalação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0">
                <a:solidFill>
                  <a:srgbClr val="AAB9CC"/>
                </a:solidFill>
                <a:latin typeface="Aptos"/>
              </a:rPr>
              <a:t>Módulo de Tradução Local PTBR 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486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AB9CC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572768"/>
            <a:ext cx="10744200" cy="1024128"/>
          </a:xfrm>
          <a:prstGeom prst="roundRect">
            <a:avLst/>
          </a:prstGeom>
          <a:solidFill>
            <a:srgbClr val="1F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10287000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"/>
              </a:rPr>
              <a:t>Dependências fixadas → código em src\ + dados da raiz → PyInstaller (.spec) → pasta dist\ → instalação no Nexus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063240"/>
            <a:ext cx="3429000" cy="1965960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063240"/>
            <a:ext cx="54864" cy="1965960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09544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3CDCBE"/>
                </a:solidFill>
                <a:latin typeface="Aptos"/>
              </a:rPr>
              <a:t>Pré-requisitos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9359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Aptos"/>
              </a:rPr>
              <a:t>Guild Wars 2 em inglês, Nexus e Text Translator v0.2.0+; Windows 64-bit.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3063240"/>
            <a:ext cx="3429000" cy="1965960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3063240"/>
            <a:ext cx="54864" cy="1965960"/>
          </a:xfrm>
          <a:prstGeom prst="rect">
            <a:avLst/>
          </a:prstGeom>
          <a:solidFill>
            <a:srgbClr val="73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3209544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73AFFF"/>
                </a:solidFill>
                <a:latin typeface="Aptos"/>
              </a:rPr>
              <a:t>Build repetível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59359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Aptos"/>
              </a:rPr>
              <a:t>requirements.txt fixa CTranslate2 4.8.3; o .spec coleta DLLs, patch, glossário, plural e modelo local se presente.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063240"/>
            <a:ext cx="3429000" cy="1965960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3063240"/>
            <a:ext cx="54864" cy="1965960"/>
          </a:xfrm>
          <a:prstGeom prst="rect">
            <a:avLst/>
          </a:prstGeom>
          <a:solidFill>
            <a:srgbClr val="FF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3209544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FB05C"/>
                </a:solidFill>
                <a:latin typeface="Aptos"/>
              </a:rPr>
              <a:t>Dados de usuário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59359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Aptos"/>
              </a:rPr>
              <a:t>Ao atualizar, preserve a pasta PT_BR e faça backup dos bancos pessoais.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000" b="1">
                <a:solidFill>
                  <a:srgbClr val="3CDCBE"/>
                </a:solidFill>
                <a:latin typeface="Aptos"/>
              </a:rPr>
              <a:t>LEITURA HONESTA DO Módulo de Tradução Local PTBR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700" b="1">
                <a:solidFill>
                  <a:srgbClr val="F1F5F9"/>
                </a:solidFill>
                <a:latin typeface="Aptos"/>
              </a:rPr>
              <a:t>Escopo atual e limites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0">
                <a:solidFill>
                  <a:srgbClr val="AAB9CC"/>
                </a:solidFill>
                <a:latin typeface="Aptos"/>
              </a:rPr>
              <a:t>Módulo de Tradução Local PTBR 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486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AB9CC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5212080" cy="2011680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54864" cy="2011680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00784"/>
            <a:ext cx="48646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3CDCBE"/>
                </a:solidFill>
                <a:latin typeface="Aptos"/>
              </a:rPr>
              <a:t>Implementado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84831"/>
            <a:ext cx="4846320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Aptos"/>
              </a:rPr>
              <a:t>Tradução local • cache • glossário • patch por ID • exportação e mesclagem CSV • backups • regras de plural em templates com contagem • build Windows.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54480"/>
            <a:ext cx="5212080" cy="2011680"/>
          </a:xfrm>
          <a:prstGeom prst="round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554480"/>
            <a:ext cx="54864" cy="2011680"/>
          </a:xfrm>
          <a:prstGeom prst="rect">
            <a:avLst/>
          </a:prstGeom>
          <a:solidFill>
            <a:srgbClr val="FF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00784"/>
            <a:ext cx="48646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FB05C"/>
                </a:solidFill>
                <a:latin typeface="Aptos"/>
              </a:rPr>
              <a:t>Não é automático / não garantido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84831"/>
            <a:ext cx="4846320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Aptos"/>
              </a:rPr>
              <a:t>Atualizações GitHub opcionais: só glossário, plural e patch; nunca módulo ou cache • plural heurístico • tradução automática não é revisão humana • GPU não configurada.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160520"/>
            <a:ext cx="10744200" cy="941832"/>
          </a:xfrm>
          <a:prstGeom prst="roundRect">
            <a:avLst/>
          </a:prstGeom>
          <a:solidFill>
            <a:srgbClr val="1F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343400"/>
            <a:ext cx="1028700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Aptos"/>
              </a:rPr>
              <a:t>Validação recomendada: testar no jogo com a instalação Módulo de Tradução Local PTBR 1.0, observar o log, conferir templates de quantidade e manter cópia dos dados locais.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3200" b="1">
                <a:solidFill>
                  <a:srgbClr val="3CDCBE"/>
                </a:solidFill>
                <a:latin typeface="Aptos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240280"/>
            <a:ext cx="10058400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300" b="1">
                <a:solidFill>
                  <a:srgbClr val="F1F5F9"/>
                </a:solidFill>
                <a:latin typeface="Aptos"/>
              </a:rPr>
              <a:t>Um tradutor comunitário e local para Guild Wars 2, com motor neural, glossário, patch por ID e ferramentas para construir e revisar traduções.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977639"/>
            <a:ext cx="99669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800" b="0">
                <a:solidFill>
                  <a:srgbClr val="AAB9CC"/>
                </a:solidFill>
                <a:latin typeface="Aptos"/>
              </a:rPr>
              <a:t>O projeto combina automação com revisão humana e mantém os textos do jogo no computador do jogador.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172200"/>
            <a:ext cx="10058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100" b="0">
                <a:solidFill>
                  <a:srgbClr val="AAB9CC"/>
                </a:solidFill>
                <a:latin typeface="Aptos"/>
              </a:rPr>
              <a:t>Cópia documentada: Módulo de Tradução Local PTBR 1.0  •  Outubro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de Tradução Local PTBR 1.0</dc:title>
  <dc:subject>Apresentação das funcionalidades e tecnologias do módulo PT-BR para Guild Wars 2</dc:subject>
  <dc:creator>Projeto GW2 Nexus Local Translator PT-BR</dc:creator>
  <cp:keywords>Guild Wars 2, Nexus, CTranslate2, OPUS-MT, portugu?s brasileiro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